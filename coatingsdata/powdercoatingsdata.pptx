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42"/>
  </p:notesMasterIdLst>
  <p:sldIdLst>
    <p:sldId id="273" r:id="rId2"/>
    <p:sldId id="343" r:id="rId3"/>
    <p:sldId id="344" r:id="rId4"/>
    <p:sldId id="313" r:id="rId5"/>
    <p:sldId id="314" r:id="rId6"/>
    <p:sldId id="315" r:id="rId7"/>
    <p:sldId id="316" r:id="rId8"/>
    <p:sldId id="262" r:id="rId9"/>
    <p:sldId id="264" r:id="rId10"/>
    <p:sldId id="265" r:id="rId11"/>
    <p:sldId id="318" r:id="rId12"/>
    <p:sldId id="319" r:id="rId13"/>
    <p:sldId id="350" r:id="rId14"/>
    <p:sldId id="293" r:id="rId15"/>
    <p:sldId id="294" r:id="rId16"/>
    <p:sldId id="295" r:id="rId17"/>
    <p:sldId id="297" r:id="rId18"/>
    <p:sldId id="298" r:id="rId19"/>
    <p:sldId id="299" r:id="rId20"/>
    <p:sldId id="300" r:id="rId21"/>
    <p:sldId id="379" r:id="rId22"/>
    <p:sldId id="382" r:id="rId23"/>
    <p:sldId id="380" r:id="rId24"/>
    <p:sldId id="345" r:id="rId25"/>
    <p:sldId id="321" r:id="rId26"/>
    <p:sldId id="346" r:id="rId27"/>
    <p:sldId id="348" r:id="rId28"/>
    <p:sldId id="349" r:id="rId29"/>
    <p:sldId id="359" r:id="rId30"/>
    <p:sldId id="309" r:id="rId31"/>
    <p:sldId id="310" r:id="rId32"/>
    <p:sldId id="390" r:id="rId33"/>
    <p:sldId id="393" r:id="rId34"/>
    <p:sldId id="395" r:id="rId35"/>
    <p:sldId id="391" r:id="rId36"/>
    <p:sldId id="303" r:id="rId37"/>
    <p:sldId id="305" r:id="rId38"/>
    <p:sldId id="272" r:id="rId39"/>
    <p:sldId id="304" r:id="rId40"/>
    <p:sldId id="306" r:id="rId4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aphShield 730" id="{DD4F8AC8-E026-4C44-B6F8-D49844203EF8}">
          <p14:sldIdLst>
            <p14:sldId id="273"/>
            <p14:sldId id="343"/>
            <p14:sldId id="344"/>
          </p14:sldIdLst>
        </p14:section>
        <p14:section name="MicroTex 580" id="{F68CC394-ECB8-41CB-9359-5F913E339DDD}">
          <p14:sldIdLst/>
        </p14:section>
        <p14:section name="MicroTex 950" id="{6BBF3056-6A88-4AFE-A533-EA3D17120762}">
          <p14:sldIdLst>
            <p14:sldId id="313"/>
            <p14:sldId id="314"/>
            <p14:sldId id="315"/>
            <p14:sldId id="316"/>
            <p14:sldId id="262"/>
            <p14:sldId id="264"/>
            <p14:sldId id="265"/>
            <p14:sldId id="318"/>
            <p14:sldId id="319"/>
          </p14:sldIdLst>
        </p14:section>
        <p14:section name="MicroTouch 800XF &amp; Microtouch 800F" id="{F0600367-2310-4539-A2F7-B1E4A2596088}">
          <p14:sldIdLst>
            <p14:sldId id="350"/>
          </p14:sldIdLst>
        </p14:section>
        <p14:section name="Micromide 520" id="{C60998C9-4DFC-4F88-BD39-2808D99FC00E}">
          <p14:sldIdLst/>
        </p14:section>
        <p14:section name="PropylMatte 31" id="{B2531ADB-753E-4207-A033-1800674FBAC9}">
          <p14:sldIdLst>
            <p14:sldId id="293"/>
            <p14:sldId id="294"/>
            <p14:sldId id="295"/>
            <p14:sldId id="297"/>
            <p14:sldId id="298"/>
            <p14:sldId id="299"/>
            <p14:sldId id="300"/>
          </p14:sldIdLst>
        </p14:section>
        <p14:section name="Micropro 400" id="{A0ABA596-8C31-4DAD-B5AD-4DBB5F449609}">
          <p14:sldIdLst/>
        </p14:section>
        <p14:section name="MP-22VF &amp; MP-22XF" id="{9B76D0E0-025B-43A2-8136-B891C7302E19}">
          <p14:sldIdLst/>
        </p14:section>
        <p14:section name="MPP series" id="{4847932F-47DE-4D3D-ADB2-C723C9198153}">
          <p14:sldIdLst/>
        </p14:section>
        <p14:section name="MPP-611XF" id="{13FD7798-1DD8-4B7C-98AD-4641281A89A6}">
          <p14:sldIdLst/>
        </p14:section>
        <p14:section name="MPP-620VF" id="{14164144-E389-4B39-9B9A-2C1AE88CABE3}">
          <p14:sldIdLst/>
        </p14:section>
        <p14:section name="MPP-635VF" id="{F21B9338-EF78-4811-9EF6-9784BD99BFDD}">
          <p14:sldIdLst/>
        </p14:section>
        <p14:section name="MP-28AL" id="{80C38631-4FE4-47D2-8BB0-B22C5AD86F7C}">
          <p14:sldIdLst>
            <p14:sldId id="379"/>
            <p14:sldId id="382"/>
            <p14:sldId id="380"/>
          </p14:sldIdLst>
        </p14:section>
        <p14:section name="MPP-611AL" id="{A32087C1-96A8-441A-AA44-87341141AE31}">
          <p14:sldIdLst>
            <p14:sldId id="345"/>
            <p14:sldId id="321"/>
            <p14:sldId id="346"/>
            <p14:sldId id="348"/>
            <p14:sldId id="349"/>
          </p14:sldIdLst>
        </p14:section>
        <p14:section name="MicroKlear418AL" id="{531490A3-1663-496A-8989-6B72D791EFE5}">
          <p14:sldIdLst>
            <p14:sldId id="359"/>
          </p14:sldIdLst>
        </p14:section>
        <p14:section name="Superslip 6515AL" id="{F271BF7D-DB72-41EB-AC94-4D873DF109C7}">
          <p14:sldIdLst>
            <p14:sldId id="309"/>
            <p14:sldId id="310"/>
          </p14:sldIdLst>
        </p14:section>
        <p14:section name="PolyGlide 1226XF" id="{87B4687B-DF1F-4CFD-B101-4263C4B978B0}">
          <p14:sldIdLst/>
        </p14:section>
        <p14:section name="SuperGlide 1231" id="{0A04CBCD-43D4-4682-BD4E-002465DC8030}">
          <p14:sldIdLst>
            <p14:sldId id="390"/>
            <p14:sldId id="393"/>
            <p14:sldId id="395"/>
            <p14:sldId id="391"/>
          </p14:sldIdLst>
        </p14:section>
        <p14:section name="PolyTuf1229" id="{BB9B7F7C-2D3C-4260-9245-55779E66EAF8}">
          <p14:sldIdLst>
            <p14:sldId id="303"/>
            <p14:sldId id="305"/>
            <p14:sldId id="272"/>
            <p14:sldId id="304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47" autoAdjust="0"/>
    <p:restoredTop sz="94660"/>
  </p:normalViewPr>
  <p:slideViewPr>
    <p:cSldViewPr snapToGrid="0">
      <p:cViewPr varScale="1">
        <p:scale>
          <a:sx n="39" d="100"/>
          <a:sy n="39" d="100"/>
        </p:scale>
        <p:origin x="19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1EA2-E39B-43EC-871B-26EF3BDC0052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BFD7A-823A-4AF7-9975-6A998CB7FD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4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BFD7A-823A-4AF7-9975-6A998CB7FD25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365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5915024" cy="3867856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488" y="7113412"/>
            <a:ext cx="5915025" cy="38678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55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85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3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37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7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800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509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83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81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99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991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26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73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3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pPr marL="11517">
              <a:spcBef>
                <a:spcPts val="100"/>
              </a:spcBef>
            </a:pPr>
            <a:r>
              <a:rPr lang="en-US" altLang="zh-TW" spc="-23"/>
              <a:t>4</a:t>
            </a:r>
            <a:fld id="{81D60167-4931-47E6-BA6A-407CBD079E47}" type="slidenum">
              <a:rPr spc="-23" smtClean="0"/>
              <a:pPr marL="11517">
                <a:spcBef>
                  <a:spcPts val="100"/>
                </a:spcBef>
              </a:pPr>
              <a:t>‹#›</a:t>
            </a:fld>
            <a:endParaRPr spc="-23" dirty="0"/>
          </a:p>
        </p:txBody>
      </p:sp>
    </p:spTree>
    <p:extLst>
      <p:ext uri="{BB962C8B-B14F-4D97-AF65-F5344CB8AC3E}">
        <p14:creationId xmlns:p14="http://schemas.microsoft.com/office/powerpoint/2010/main" val="2353758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5A29DA-0EA5-0896-1F6E-D1A13031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284E2D-D8B5-BE8F-9594-1E5853874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3" y="2988734"/>
            <a:ext cx="5913239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3C2F02-B509-B33F-9F9B-F2C2326F3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3" y="4453468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B7BA819-0CD9-5E3F-888D-61FE427CD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8"/>
            <a:ext cx="2915543" cy="6550379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D40482-ECB6-1957-7C29-19B68578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CD070-AD30-4C88-A3D9-7A4BF9EED47D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C1A4BF7-F236-E38D-9564-E75942A9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263024-BE25-BD1C-CFB2-C21D9636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04EA-60D8-4EB9-BD67-952C5E82EB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776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3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pPr marL="11517">
              <a:spcBef>
                <a:spcPts val="100"/>
              </a:spcBef>
            </a:pPr>
            <a:r>
              <a:rPr lang="en-US" altLang="zh-TW" spc="-23"/>
              <a:t>4</a:t>
            </a:r>
            <a:fld id="{81D60167-4931-47E6-BA6A-407CBD079E47}" type="slidenum">
              <a:rPr spc="-23" smtClean="0"/>
              <a:pPr marL="11517">
                <a:spcBef>
                  <a:spcPts val="100"/>
                </a:spcBef>
              </a:pPr>
              <a:t>‹#›</a:t>
            </a:fld>
            <a:endParaRPr spc="-23" dirty="0"/>
          </a:p>
        </p:txBody>
      </p:sp>
    </p:spTree>
    <p:extLst>
      <p:ext uri="{BB962C8B-B14F-4D97-AF65-F5344CB8AC3E}">
        <p14:creationId xmlns:p14="http://schemas.microsoft.com/office/powerpoint/2010/main" val="634081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73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1" y="2804160"/>
            <a:ext cx="298323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1" y="2804160"/>
            <a:ext cx="298323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3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pPr marL="11517">
              <a:spcBef>
                <a:spcPts val="100"/>
              </a:spcBef>
            </a:pPr>
            <a:r>
              <a:rPr lang="en-US" altLang="zh-TW" spc="-23"/>
              <a:t>4</a:t>
            </a:r>
            <a:fld id="{81D60167-4931-47E6-BA6A-407CBD079E47}" type="slidenum">
              <a:rPr spc="-23" smtClean="0"/>
              <a:pPr marL="11517">
                <a:spcBef>
                  <a:spcPts val="100"/>
                </a:spcBef>
              </a:pPr>
              <a:t>‹#›</a:t>
            </a:fld>
            <a:endParaRPr spc="-23" dirty="0"/>
          </a:p>
        </p:txBody>
      </p:sp>
    </p:spTree>
    <p:extLst>
      <p:ext uri="{BB962C8B-B14F-4D97-AF65-F5344CB8AC3E}">
        <p14:creationId xmlns:p14="http://schemas.microsoft.com/office/powerpoint/2010/main" val="4109772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20E4FE-59EF-57F9-DE93-341CEA6D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DBA6A4A-1549-251E-2A4A-C8FCAA2E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CD070-AD30-4C88-A3D9-7A4BF9EED47D}" type="datetimeFigureOut">
              <a:rPr lang="zh-TW" altLang="en-US" smtClean="0"/>
              <a:pPr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414979-2764-25D8-D594-73D7319D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5D74C5-111E-2DA5-7665-BF0F6EEF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04EA-60D8-4EB9-BD67-952C5E82EB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32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B0E60-58BB-4A5E-A710-1176DEF089A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E62B8-8493-4D51-A512-991B4050BB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34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F498-B2D2-8B3E-6AF1-98512E60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47AD58-251C-6701-7B5C-077AC8E5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Testing performed on GraphShield 730</a:t>
            </a:r>
            <a:endParaRPr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A2588774-75DE-4750-593E-AEE19629B4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633706"/>
            <a:ext cx="5915025" cy="3091025"/>
          </a:xfrm>
          <a:prstGeom prst="rect">
            <a:avLst/>
          </a:prstGeom>
        </p:spPr>
      </p:pic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6DD6363F-7CF6-6F2D-77A7-E24B671A4E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499721"/>
            <a:ext cx="5915025" cy="309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0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F75C24-C59F-2958-DDC9-AAB34530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Anticorrosion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16FC2DF3-D9EE-0203-2F04-B9C55102FC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8113" y="3244850"/>
            <a:ext cx="5761774" cy="3868738"/>
          </a:xfrm>
          <a:prstGeom prst="rect">
            <a:avLst/>
          </a:prstGeom>
        </p:spPr>
      </p:pic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7A6F99C-230F-7DF5-7634-F27E5B95FE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147656"/>
            <a:ext cx="5915025" cy="379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5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4">
            <a:extLst>
              <a:ext uri="{FF2B5EF4-FFF2-40B4-BE49-F238E27FC236}">
                <a16:creationId xmlns:a16="http://schemas.microsoft.com/office/drawing/2014/main" id="{618754D5-23D2-835A-8CB1-8ED2BE5B8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GraphShield 730 Anticorrosion results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605D183-D292-80C2-9990-2DA8D8643F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4013484"/>
            <a:ext cx="5915025" cy="2331469"/>
          </a:xfr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4FEB42D-9A2F-DA82-14C1-C58E0FDD24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120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Performance Study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EA34687-4CAF-BB7E-B425-75F3E0F067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Objective: Evaluate the texture and gloss performance of </a:t>
            </a:r>
            <a:r>
              <a:rPr lang="en-US" altLang="zh-TW" dirty="0" err="1"/>
              <a:t>MicroTex</a:t>
            </a:r>
            <a:r>
              <a:rPr lang="en-US" altLang="zh-TW" dirty="0"/>
              <a:t> 950 vs. </a:t>
            </a:r>
            <a:r>
              <a:rPr lang="en-US" altLang="zh-TW" dirty="0" err="1"/>
              <a:t>Fluo</a:t>
            </a:r>
            <a:r>
              <a:rPr lang="en-US" altLang="zh-TW" dirty="0"/>
              <a:t> 750TX in various powder coating systems</a:t>
            </a:r>
          </a:p>
          <a:p>
            <a:endParaRPr lang="zh-TW" alt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4</a:t>
            </a:fld>
            <a:endParaRPr dirty="0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C64831E9-21BE-5A9F-7AFF-EDD2137A33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B730F09A-4795-2966-E2F1-6639CEA84B1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487" y="5098227"/>
            <a:ext cx="5915025" cy="14497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Control Formulas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2C9D83BF-B22A-4821-1818-25A02F8CE3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Resins:</a:t>
            </a:r>
          </a:p>
          <a:p>
            <a:pPr lvl="1"/>
            <a:r>
              <a:rPr lang="en-US" altLang="zh-TW" dirty="0"/>
              <a:t>Epoxy-Polyester Hybrid</a:t>
            </a:r>
          </a:p>
          <a:p>
            <a:pPr lvl="1"/>
            <a:r>
              <a:rPr lang="en-US" altLang="zh-TW" dirty="0"/>
              <a:t>Polyester-TGIC</a:t>
            </a:r>
          </a:p>
          <a:p>
            <a:pPr lvl="1"/>
            <a:r>
              <a:rPr lang="en-US" altLang="zh-TW" dirty="0"/>
              <a:t>Polyester-HAA (</a:t>
            </a:r>
            <a:r>
              <a:rPr lang="en-US" altLang="zh-TW" dirty="0" err="1"/>
              <a:t>Primid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Each system was evaluated with 1.0% </a:t>
            </a:r>
            <a:r>
              <a:rPr lang="en-US" altLang="zh-TW" dirty="0" err="1"/>
              <a:t>Fluo</a:t>
            </a:r>
            <a:r>
              <a:rPr lang="en-US" altLang="zh-TW" dirty="0"/>
              <a:t> 750TX vs. 4-5-6% </a:t>
            </a:r>
            <a:r>
              <a:rPr lang="en-US" altLang="zh-TW" dirty="0" err="1"/>
              <a:t>MicroTex</a:t>
            </a:r>
            <a:r>
              <a:rPr lang="en-US" altLang="zh-TW" dirty="0"/>
              <a:t> 950</a:t>
            </a:r>
          </a:p>
          <a:p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5ADFCAD0-42C5-9BA4-0B28-EF7C88309C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5</a:t>
            </a:fld>
            <a:endParaRPr dirty="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81" y="6232897"/>
            <a:ext cx="5571042" cy="22300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Test Methods Beyond the Visual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DF1AA0-651F-F63F-2FBD-31455DBEEF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Specular Gloss (ASTM D2457)</a:t>
            </a:r>
          </a:p>
          <a:p>
            <a:pPr lvl="1"/>
            <a:r>
              <a:rPr lang="en-US" altLang="zh-TW" dirty="0"/>
              <a:t>60° geometry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Impact Resistance (ASTM D2794) “falling weight test”</a:t>
            </a:r>
          </a:p>
          <a:p>
            <a:pPr lvl="1"/>
            <a:r>
              <a:rPr lang="en-US" altLang="zh-TW" dirty="0"/>
              <a:t>Measures resistance of a paint film from rapid deformation (inch/lb.)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Conical Mandrel Bend (ASTM D522)</a:t>
            </a:r>
          </a:p>
          <a:p>
            <a:pPr lvl="1"/>
            <a:r>
              <a:rPr lang="en-US" altLang="zh-TW" dirty="0"/>
              <a:t>Measure of flexibility (crack resistance) 130°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Crosshatch Adhesion (ASTM D3359)</a:t>
            </a:r>
          </a:p>
          <a:p>
            <a:pPr lvl="1"/>
            <a:r>
              <a:rPr lang="en-US" altLang="zh-TW" dirty="0"/>
              <a:t>Tape test to measure adhesion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Pellet Flow (ASTM D3541)</a:t>
            </a:r>
          </a:p>
          <a:p>
            <a:pPr lvl="1"/>
            <a:r>
              <a:rPr lang="en-US" altLang="zh-TW" dirty="0"/>
              <a:t>Measurement melt flow under low shear</a:t>
            </a:r>
          </a:p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5ECF10B-3C26-D2DC-37DA-F9CEC8778C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zh-TW" altLang="en-US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58137" rIns="0" bIns="0" rtlCol="0" anchor="ctr">
            <a:spAutoFit/>
          </a:bodyPr>
          <a:lstStyle/>
          <a:p>
            <a:r>
              <a:rPr lang="en-US" dirty="0"/>
              <a:t>Visually our best replacement for Fluo 750TX</a:t>
            </a:r>
            <a:endParaRPr 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A61E2CC-0EEA-CD00-B54C-93096097A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97CF2BE-F658-C1BF-DCB2-56DC99F9AB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7</a:t>
            </a:fld>
            <a:endParaRPr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72ED255A-4690-49C9-1BD9-5D82763F1F54}"/>
              </a:ext>
            </a:extLst>
          </p:cNvPr>
          <p:cNvGrpSpPr/>
          <p:nvPr/>
        </p:nvGrpSpPr>
        <p:grpSpPr>
          <a:xfrm>
            <a:off x="136162" y="3565341"/>
            <a:ext cx="6585676" cy="3228286"/>
            <a:chOff x="3510823" y="2445636"/>
            <a:chExt cx="4966371" cy="2721184"/>
          </a:xfrm>
        </p:grpSpPr>
        <p:grpSp>
          <p:nvGrpSpPr>
            <p:cNvPr id="37" name="object 3"/>
            <p:cNvGrpSpPr/>
            <p:nvPr/>
          </p:nvGrpSpPr>
          <p:grpSpPr>
            <a:xfrm>
              <a:off x="7193509" y="2898670"/>
              <a:ext cx="1257588" cy="2268150"/>
              <a:chOff x="6557009" y="3196589"/>
              <a:chExt cx="1386840" cy="2501265"/>
            </a:xfrm>
          </p:grpSpPr>
          <p:pic>
            <p:nvPicPr>
              <p:cNvPr id="47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563867" y="3204972"/>
                <a:ext cx="1371600" cy="2485643"/>
              </a:xfrm>
              <a:prstGeom prst="rect">
                <a:avLst/>
              </a:prstGeom>
            </p:spPr>
          </p:pic>
          <p:sp>
            <p:nvSpPr>
              <p:cNvPr id="48" name="object 5"/>
              <p:cNvSpPr/>
              <p:nvPr/>
            </p:nvSpPr>
            <p:spPr>
              <a:xfrm>
                <a:off x="6560819" y="3200399"/>
                <a:ext cx="1379220" cy="2493645"/>
              </a:xfrm>
              <a:custGeom>
                <a:avLst/>
                <a:gdLst/>
                <a:ahLst/>
                <a:cxnLst/>
                <a:rect l="l" t="t" r="r" b="b"/>
                <a:pathLst>
                  <a:path w="1379220" h="2493645">
                    <a:moveTo>
                      <a:pt x="0" y="0"/>
                    </a:moveTo>
                    <a:lnTo>
                      <a:pt x="1379219" y="0"/>
                    </a:lnTo>
                    <a:lnTo>
                      <a:pt x="1379219" y="2493264"/>
                    </a:lnTo>
                    <a:lnTo>
                      <a:pt x="0" y="2493264"/>
                    </a:lnTo>
                    <a:lnTo>
                      <a:pt x="0" y="0"/>
                    </a:lnTo>
                    <a:close/>
                  </a:path>
                </a:pathLst>
              </a:custGeom>
              <a:ln w="762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grpSp>
          <p:nvGrpSpPr>
            <p:cNvPr id="38" name="object 6"/>
            <p:cNvGrpSpPr/>
            <p:nvPr/>
          </p:nvGrpSpPr>
          <p:grpSpPr>
            <a:xfrm>
              <a:off x="5454998" y="2898670"/>
              <a:ext cx="1250678" cy="2268150"/>
              <a:chOff x="4639817" y="3196589"/>
              <a:chExt cx="1379220" cy="2501265"/>
            </a:xfrm>
          </p:grpSpPr>
          <p:pic>
            <p:nvPicPr>
              <p:cNvPr id="45" name="object 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646676" y="3204972"/>
                <a:ext cx="1363979" cy="2485643"/>
              </a:xfrm>
              <a:prstGeom prst="rect">
                <a:avLst/>
              </a:prstGeom>
            </p:spPr>
          </p:pic>
          <p:sp>
            <p:nvSpPr>
              <p:cNvPr id="46" name="object 8"/>
              <p:cNvSpPr/>
              <p:nvPr/>
            </p:nvSpPr>
            <p:spPr>
              <a:xfrm>
                <a:off x="4643627" y="3200399"/>
                <a:ext cx="1371600" cy="249364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2493645">
                    <a:moveTo>
                      <a:pt x="0" y="0"/>
                    </a:moveTo>
                    <a:lnTo>
                      <a:pt x="1371600" y="0"/>
                    </a:lnTo>
                    <a:lnTo>
                      <a:pt x="1371600" y="2493264"/>
                    </a:lnTo>
                    <a:lnTo>
                      <a:pt x="0" y="2493264"/>
                    </a:lnTo>
                    <a:lnTo>
                      <a:pt x="0" y="0"/>
                    </a:lnTo>
                    <a:close/>
                  </a:path>
                </a:pathLst>
              </a:custGeom>
              <a:ln w="762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39" name="object 9"/>
            <p:cNvSpPr txBox="1"/>
            <p:nvPr/>
          </p:nvSpPr>
          <p:spPr>
            <a:xfrm>
              <a:off x="5405498" y="2445636"/>
              <a:ext cx="1294440" cy="257508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7" marR="4606">
                <a:spcBef>
                  <a:spcPts val="94"/>
                </a:spcBef>
              </a:pPr>
              <a:r>
                <a:rPr sz="953" dirty="0">
                  <a:latin typeface="Verdana"/>
                  <a:cs typeface="Verdana"/>
                </a:rPr>
                <a:t>6.0%</a:t>
              </a:r>
              <a:r>
                <a:rPr sz="953" spc="-9" dirty="0">
                  <a:latin typeface="Verdana"/>
                  <a:cs typeface="Verdana"/>
                </a:rPr>
                <a:t> </a:t>
              </a:r>
              <a:r>
                <a:rPr sz="953" spc="-18" dirty="0">
                  <a:latin typeface="Verdana"/>
                  <a:cs typeface="Verdana"/>
                </a:rPr>
                <a:t>MicroTex</a:t>
              </a:r>
              <a:r>
                <a:rPr sz="953" spc="-5" dirty="0">
                  <a:latin typeface="Verdana"/>
                  <a:cs typeface="Verdana"/>
                </a:rPr>
                <a:t> </a:t>
              </a:r>
              <a:r>
                <a:rPr sz="953" dirty="0">
                  <a:latin typeface="Verdana"/>
                  <a:cs typeface="Verdana"/>
                </a:rPr>
                <a:t>950</a:t>
              </a:r>
              <a:r>
                <a:rPr sz="953" spc="5" dirty="0">
                  <a:latin typeface="Verdana"/>
                  <a:cs typeface="Verdana"/>
                </a:rPr>
                <a:t> </a:t>
              </a:r>
              <a:r>
                <a:rPr sz="953" spc="-44" dirty="0">
                  <a:latin typeface="Verdana"/>
                  <a:cs typeface="Verdana"/>
                </a:rPr>
                <a:t>- </a:t>
              </a:r>
              <a:r>
                <a:rPr sz="953" dirty="0">
                  <a:latin typeface="Verdana"/>
                  <a:cs typeface="Verdana"/>
                </a:rPr>
                <a:t>Polyester</a:t>
              </a:r>
              <a:r>
                <a:rPr sz="953" spc="-82" dirty="0">
                  <a:latin typeface="Verdana"/>
                  <a:cs typeface="Verdana"/>
                </a:rPr>
                <a:t> </a:t>
              </a:r>
              <a:r>
                <a:rPr sz="953" spc="-18" dirty="0">
                  <a:latin typeface="Verdana"/>
                  <a:cs typeface="Verdana"/>
                </a:rPr>
                <a:t>TGIC</a:t>
              </a:r>
              <a:endParaRPr sz="953">
                <a:latin typeface="Verdana"/>
                <a:cs typeface="Verdana"/>
              </a:endParaRPr>
            </a:p>
          </p:txBody>
        </p:sp>
        <p:sp>
          <p:nvSpPr>
            <p:cNvPr id="40" name="object 10"/>
            <p:cNvSpPr txBox="1"/>
            <p:nvPr/>
          </p:nvSpPr>
          <p:spPr>
            <a:xfrm>
              <a:off x="7182754" y="2470517"/>
              <a:ext cx="1294440" cy="257508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7" marR="4606">
                <a:spcBef>
                  <a:spcPts val="94"/>
                </a:spcBef>
              </a:pPr>
              <a:r>
                <a:rPr sz="953" dirty="0">
                  <a:latin typeface="Verdana"/>
                  <a:cs typeface="Verdana"/>
                </a:rPr>
                <a:t>6.0%</a:t>
              </a:r>
              <a:r>
                <a:rPr sz="953" spc="-9" dirty="0">
                  <a:latin typeface="Verdana"/>
                  <a:cs typeface="Verdana"/>
                </a:rPr>
                <a:t> </a:t>
              </a:r>
              <a:r>
                <a:rPr sz="953" spc="-18" dirty="0">
                  <a:latin typeface="Verdana"/>
                  <a:cs typeface="Verdana"/>
                </a:rPr>
                <a:t>MicroTex</a:t>
              </a:r>
              <a:r>
                <a:rPr sz="953" spc="-5" dirty="0">
                  <a:latin typeface="Verdana"/>
                  <a:cs typeface="Verdana"/>
                </a:rPr>
                <a:t> </a:t>
              </a:r>
              <a:r>
                <a:rPr sz="953" dirty="0">
                  <a:latin typeface="Verdana"/>
                  <a:cs typeface="Verdana"/>
                </a:rPr>
                <a:t>950</a:t>
              </a:r>
              <a:r>
                <a:rPr sz="953" spc="5" dirty="0">
                  <a:latin typeface="Verdana"/>
                  <a:cs typeface="Verdana"/>
                </a:rPr>
                <a:t> </a:t>
              </a:r>
              <a:r>
                <a:rPr sz="953" spc="-44" dirty="0">
                  <a:latin typeface="Verdana"/>
                  <a:cs typeface="Verdana"/>
                </a:rPr>
                <a:t>- </a:t>
              </a:r>
              <a:r>
                <a:rPr sz="953" dirty="0">
                  <a:latin typeface="Verdana"/>
                  <a:cs typeface="Verdana"/>
                </a:rPr>
                <a:t>Polyester</a:t>
              </a:r>
              <a:r>
                <a:rPr sz="953" spc="-82" dirty="0">
                  <a:latin typeface="Verdana"/>
                  <a:cs typeface="Verdana"/>
                </a:rPr>
                <a:t> </a:t>
              </a:r>
              <a:r>
                <a:rPr sz="953" spc="-23" dirty="0">
                  <a:latin typeface="Verdana"/>
                  <a:cs typeface="Verdana"/>
                </a:rPr>
                <a:t>HAA</a:t>
              </a:r>
              <a:endParaRPr sz="953">
                <a:latin typeface="Verdana"/>
                <a:cs typeface="Verdana"/>
              </a:endParaRPr>
            </a:p>
          </p:txBody>
        </p:sp>
        <p:grpSp>
          <p:nvGrpSpPr>
            <p:cNvPr id="41" name="object 11"/>
            <p:cNvGrpSpPr/>
            <p:nvPr/>
          </p:nvGrpSpPr>
          <p:grpSpPr>
            <a:xfrm>
              <a:off x="3722015" y="2898670"/>
              <a:ext cx="1250678" cy="2268150"/>
              <a:chOff x="2728722" y="3196589"/>
              <a:chExt cx="1379220" cy="2501265"/>
            </a:xfrm>
          </p:grpSpPr>
          <p:pic>
            <p:nvPicPr>
              <p:cNvPr id="43" name="object 12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737103" y="3204972"/>
                <a:ext cx="1362455" cy="2485643"/>
              </a:xfrm>
              <a:prstGeom prst="rect">
                <a:avLst/>
              </a:prstGeom>
            </p:spPr>
          </p:pic>
          <p:sp>
            <p:nvSpPr>
              <p:cNvPr id="44" name="object 13"/>
              <p:cNvSpPr/>
              <p:nvPr/>
            </p:nvSpPr>
            <p:spPr>
              <a:xfrm>
                <a:off x="2732532" y="3200399"/>
                <a:ext cx="1371600" cy="249364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2493645">
                    <a:moveTo>
                      <a:pt x="0" y="0"/>
                    </a:moveTo>
                    <a:lnTo>
                      <a:pt x="1371600" y="0"/>
                    </a:lnTo>
                    <a:lnTo>
                      <a:pt x="1371600" y="2493264"/>
                    </a:lnTo>
                    <a:lnTo>
                      <a:pt x="0" y="2493264"/>
                    </a:lnTo>
                    <a:lnTo>
                      <a:pt x="0" y="0"/>
                    </a:lnTo>
                    <a:close/>
                  </a:path>
                </a:pathLst>
              </a:custGeom>
              <a:ln w="762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42" name="object 14"/>
            <p:cNvSpPr txBox="1"/>
            <p:nvPr/>
          </p:nvSpPr>
          <p:spPr>
            <a:xfrm>
              <a:off x="3510823" y="2470517"/>
              <a:ext cx="1520737" cy="133900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7">
                <a:spcBef>
                  <a:spcPts val="94"/>
                </a:spcBef>
              </a:pPr>
              <a:r>
                <a:rPr sz="953" dirty="0">
                  <a:latin typeface="Verdana"/>
                  <a:cs typeface="Verdana"/>
                </a:rPr>
                <a:t>1.0%</a:t>
              </a:r>
              <a:r>
                <a:rPr sz="953" spc="-18" dirty="0">
                  <a:latin typeface="Verdana"/>
                  <a:cs typeface="Verdana"/>
                </a:rPr>
                <a:t> </a:t>
              </a:r>
              <a:r>
                <a:rPr sz="953" dirty="0">
                  <a:latin typeface="Verdana"/>
                  <a:cs typeface="Verdana"/>
                </a:rPr>
                <a:t>Fluo</a:t>
              </a:r>
              <a:r>
                <a:rPr sz="953" spc="-5" dirty="0">
                  <a:latin typeface="Verdana"/>
                  <a:cs typeface="Verdana"/>
                </a:rPr>
                <a:t> </a:t>
              </a:r>
              <a:r>
                <a:rPr sz="953" dirty="0">
                  <a:latin typeface="Verdana"/>
                  <a:cs typeface="Verdana"/>
                </a:rPr>
                <a:t>750TX</a:t>
              </a:r>
              <a:r>
                <a:rPr sz="953" spc="-18" dirty="0">
                  <a:latin typeface="Verdana"/>
                  <a:cs typeface="Verdana"/>
                </a:rPr>
                <a:t> </a:t>
              </a:r>
              <a:r>
                <a:rPr sz="953" spc="-9" dirty="0">
                  <a:latin typeface="Verdana"/>
                  <a:cs typeface="Verdana"/>
                </a:rPr>
                <a:t>Hybrid</a:t>
              </a:r>
              <a:endParaRPr sz="953">
                <a:latin typeface="Verdana"/>
                <a:cs typeface="Verdan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Gloss Efficiency</a:t>
            </a:r>
          </a:p>
        </p:txBody>
      </p:sp>
      <p:pic>
        <p:nvPicPr>
          <p:cNvPr id="87" name="內容版面配置區 86">
            <a:extLst>
              <a:ext uri="{FF2B5EF4-FFF2-40B4-BE49-F238E27FC236}">
                <a16:creationId xmlns:a16="http://schemas.microsoft.com/office/drawing/2014/main" id="{80E8254C-2940-C24A-AA4E-AA40420E64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959491"/>
            <a:ext cx="5915025" cy="2439456"/>
          </a:xfrm>
          <a:prstGeom prst="rect">
            <a:avLst/>
          </a:prstGeom>
        </p:spPr>
      </p:pic>
      <p:pic>
        <p:nvPicPr>
          <p:cNvPr id="89" name="內容版面配置區 88">
            <a:extLst>
              <a:ext uri="{FF2B5EF4-FFF2-40B4-BE49-F238E27FC236}">
                <a16:creationId xmlns:a16="http://schemas.microsoft.com/office/drawing/2014/main" id="{9C1C856A-4ACA-3F92-CB8A-49C70353C0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866271"/>
            <a:ext cx="5915025" cy="2361784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48DBB57-108F-BB91-27CB-58D4BF25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>
                <a:solidFill>
                  <a:srgbClr val="002F8C"/>
                </a:solidFill>
                <a:latin typeface="Verdana"/>
                <a:cs typeface="Verdana"/>
              </a:rPr>
              <a:t>Mechanical</a:t>
            </a:r>
            <a:r>
              <a:rPr lang="en-US" altLang="zh-TW" sz="3600" b="1" spc="-14" dirty="0">
                <a:solidFill>
                  <a:srgbClr val="002F8C"/>
                </a:solidFill>
                <a:latin typeface="Verdana"/>
                <a:cs typeface="Verdana"/>
              </a:rPr>
              <a:t> </a:t>
            </a:r>
            <a:r>
              <a:rPr lang="en-US" altLang="zh-TW" sz="3600" b="1" spc="-9" dirty="0">
                <a:solidFill>
                  <a:srgbClr val="002F8C"/>
                </a:solidFill>
                <a:latin typeface="Verdana"/>
                <a:cs typeface="Verdana"/>
              </a:rPr>
              <a:t>Properties</a:t>
            </a:r>
            <a:br>
              <a:rPr lang="en-US" altLang="zh-TW" sz="3600" dirty="0">
                <a:latin typeface="Verdana"/>
                <a:cs typeface="Verdana"/>
              </a:rPr>
            </a:b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5DB15069-6CD7-69D6-275E-75A7E3F626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823125"/>
            <a:ext cx="5915025" cy="2712188"/>
          </a:xfrm>
          <a:prstGeom prst="rect">
            <a:avLst/>
          </a:prstGeom>
        </p:spPr>
      </p:pic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380527D-B03A-896A-E470-A898ADABE1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12668" rIns="0" bIns="0" rtlCol="0" anchor="ctr">
            <a:spAutoFit/>
          </a:bodyPr>
          <a:lstStyle/>
          <a:p>
            <a:r>
              <a:rPr lang="en-US" altLang="zh-TW" dirty="0"/>
              <a:t>4</a:t>
            </a:r>
            <a:fld id="{81D60167-4931-47E6-BA6A-407CBD079E47}" type="slidenum">
              <a:rPr dirty="0"/>
              <a:pPr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55173" rIns="0" bIns="0" rtlCol="0" anchor="ctr">
            <a:spAutoFit/>
          </a:bodyPr>
          <a:lstStyle/>
          <a:p>
            <a:r>
              <a:rPr lang="en-US" dirty="0"/>
              <a:t>Inclined Plate – Pellet Flow at 15 min/200°C</a:t>
            </a:r>
            <a:endParaRPr lang="en-US"/>
          </a:p>
          <a:p>
            <a:r>
              <a:rPr lang="en-US" dirty="0"/>
              <a:t>(indication of edge coverage)</a:t>
            </a:r>
            <a:endParaRPr lang="en-US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6E9A58BF-1747-1617-A854-B74BC3F37C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9" name="內容版面配置區 18">
            <a:extLst>
              <a:ext uri="{FF2B5EF4-FFF2-40B4-BE49-F238E27FC236}">
                <a16:creationId xmlns:a16="http://schemas.microsoft.com/office/drawing/2014/main" id="{088F5D68-8AFF-CE2F-A8FA-AB5CDE439C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7816737F-DAC2-1386-A9B0-ABD413BF143D}"/>
              </a:ext>
            </a:extLst>
          </p:cNvPr>
          <p:cNvGrpSpPr/>
          <p:nvPr/>
        </p:nvGrpSpPr>
        <p:grpSpPr>
          <a:xfrm>
            <a:off x="58420" y="5237419"/>
            <a:ext cx="6741164" cy="2895216"/>
            <a:chOff x="2829093" y="2329118"/>
            <a:chExt cx="6741165" cy="2895216"/>
          </a:xfrm>
        </p:grpSpPr>
        <p:grpSp>
          <p:nvGrpSpPr>
            <p:cNvPr id="3" name="object 3"/>
            <p:cNvGrpSpPr/>
            <p:nvPr/>
          </p:nvGrpSpPr>
          <p:grpSpPr>
            <a:xfrm>
              <a:off x="2829093" y="2329118"/>
              <a:ext cx="5301562" cy="2895216"/>
              <a:chOff x="1744027" y="2568499"/>
              <a:chExt cx="5846445" cy="3192780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35091" y="2568499"/>
                <a:ext cx="4655255" cy="3192220"/>
              </a:xfrm>
              <a:prstGeom prst="rect">
                <a:avLst/>
              </a:prstGeom>
            </p:spPr>
          </p:pic>
          <p:sp>
            <p:nvSpPr>
              <p:cNvPr id="5" name="object 5"/>
              <p:cNvSpPr/>
              <p:nvPr/>
            </p:nvSpPr>
            <p:spPr>
              <a:xfrm>
                <a:off x="1752599" y="2941319"/>
                <a:ext cx="1443355" cy="1042669"/>
              </a:xfrm>
              <a:custGeom>
                <a:avLst/>
                <a:gdLst/>
                <a:ahLst/>
                <a:cxnLst/>
                <a:rect l="l" t="t" r="r" b="b"/>
                <a:pathLst>
                  <a:path w="1443355" h="1042670">
                    <a:moveTo>
                      <a:pt x="0" y="260604"/>
                    </a:moveTo>
                    <a:lnTo>
                      <a:pt x="922019" y="260604"/>
                    </a:lnTo>
                    <a:lnTo>
                      <a:pt x="922019" y="0"/>
                    </a:lnTo>
                    <a:lnTo>
                      <a:pt x="1443227" y="521208"/>
                    </a:lnTo>
                    <a:lnTo>
                      <a:pt x="922019" y="1042416"/>
                    </a:lnTo>
                    <a:lnTo>
                      <a:pt x="922019" y="781812"/>
                    </a:lnTo>
                    <a:lnTo>
                      <a:pt x="0" y="781812"/>
                    </a:lnTo>
                    <a:lnTo>
                      <a:pt x="0" y="260604"/>
                    </a:lnTo>
                    <a:close/>
                  </a:path>
                </a:pathLst>
              </a:custGeom>
              <a:ln w="16764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2958041" y="2910002"/>
              <a:ext cx="829179" cy="45213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20729" marR="4606" indent="-9789" algn="just">
                <a:spcBef>
                  <a:spcPts val="94"/>
                </a:spcBef>
              </a:pPr>
              <a:r>
                <a:rPr sz="953" dirty="0">
                  <a:latin typeface="Verdana"/>
                  <a:cs typeface="Verdana"/>
                </a:rPr>
                <a:t>#1-4</a:t>
              </a:r>
              <a:r>
                <a:rPr sz="953" spc="5" dirty="0">
                  <a:latin typeface="Verdana"/>
                  <a:cs typeface="Verdana"/>
                </a:rPr>
                <a:t> </a:t>
              </a:r>
              <a:r>
                <a:rPr sz="953" b="1" spc="-9" dirty="0">
                  <a:latin typeface="Verdana"/>
                  <a:cs typeface="Verdana"/>
                </a:rPr>
                <a:t>Hybrid </a:t>
              </a:r>
              <a:r>
                <a:rPr sz="953" dirty="0">
                  <a:latin typeface="Verdana"/>
                  <a:cs typeface="Verdana"/>
                </a:rPr>
                <a:t>Suitable</a:t>
              </a:r>
              <a:r>
                <a:rPr sz="953" spc="-9" dirty="0">
                  <a:latin typeface="Verdana"/>
                  <a:cs typeface="Verdana"/>
                </a:rPr>
                <a:t> </a:t>
              </a:r>
              <a:r>
                <a:rPr sz="953" spc="-18" dirty="0">
                  <a:latin typeface="Verdana"/>
                  <a:cs typeface="Verdana"/>
                </a:rPr>
                <a:t>flow </a:t>
              </a:r>
              <a:r>
                <a:rPr sz="953" dirty="0">
                  <a:latin typeface="Verdana"/>
                  <a:cs typeface="Verdana"/>
                </a:rPr>
                <a:t>for</a:t>
              </a:r>
              <a:r>
                <a:rPr sz="953" spc="-9" dirty="0">
                  <a:latin typeface="Verdana"/>
                  <a:cs typeface="Verdana"/>
                </a:rPr>
                <a:t> texture</a:t>
              </a:r>
              <a:endParaRPr sz="953">
                <a:latin typeface="Verdana"/>
                <a:cs typeface="Verdan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901767" y="2672720"/>
              <a:ext cx="1453942" cy="945493"/>
            </a:xfrm>
            <a:custGeom>
              <a:avLst/>
              <a:gdLst/>
              <a:ahLst/>
              <a:cxnLst/>
              <a:rect l="l" t="t" r="r" b="b"/>
              <a:pathLst>
                <a:path w="1603375" h="1042670">
                  <a:moveTo>
                    <a:pt x="0" y="521208"/>
                  </a:moveTo>
                  <a:lnTo>
                    <a:pt x="521207" y="0"/>
                  </a:lnTo>
                  <a:lnTo>
                    <a:pt x="521207" y="260603"/>
                  </a:lnTo>
                  <a:lnTo>
                    <a:pt x="1603247" y="260603"/>
                  </a:lnTo>
                  <a:lnTo>
                    <a:pt x="1603247" y="781811"/>
                  </a:lnTo>
                  <a:lnTo>
                    <a:pt x="521207" y="781811"/>
                  </a:lnTo>
                  <a:lnTo>
                    <a:pt x="521207" y="1042416"/>
                  </a:lnTo>
                  <a:lnTo>
                    <a:pt x="0" y="521208"/>
                  </a:lnTo>
                  <a:close/>
                </a:path>
              </a:pathLst>
            </a:custGeom>
            <a:ln w="1676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8237186" y="2915523"/>
              <a:ext cx="1020350" cy="45213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576" algn="ctr">
                <a:spcBef>
                  <a:spcPts val="94"/>
                </a:spcBef>
              </a:pPr>
              <a:r>
                <a:rPr sz="953" dirty="0">
                  <a:latin typeface="Verdana"/>
                  <a:cs typeface="Verdana"/>
                </a:rPr>
                <a:t>#5-8</a:t>
              </a:r>
              <a:r>
                <a:rPr sz="953" spc="5" dirty="0">
                  <a:latin typeface="Verdana"/>
                  <a:cs typeface="Verdana"/>
                </a:rPr>
                <a:t> </a:t>
              </a:r>
              <a:r>
                <a:rPr sz="953" b="1" spc="-9" dirty="0">
                  <a:latin typeface="Verdana"/>
                  <a:cs typeface="Verdana"/>
                </a:rPr>
                <a:t>PE/TGIC</a:t>
              </a:r>
              <a:endParaRPr sz="953">
                <a:latin typeface="Verdana"/>
                <a:cs typeface="Verdana"/>
              </a:endParaRPr>
            </a:p>
            <a:p>
              <a:pPr marL="11517" marR="4606" algn="ctr"/>
              <a:r>
                <a:rPr sz="953" dirty="0">
                  <a:latin typeface="Verdana"/>
                  <a:cs typeface="Verdana"/>
                </a:rPr>
                <a:t>Suitable</a:t>
              </a:r>
              <a:r>
                <a:rPr sz="953" spc="-18" dirty="0">
                  <a:latin typeface="Verdana"/>
                  <a:cs typeface="Verdana"/>
                </a:rPr>
                <a:t> </a:t>
              </a:r>
              <a:r>
                <a:rPr sz="953" dirty="0">
                  <a:latin typeface="Verdana"/>
                  <a:cs typeface="Verdana"/>
                </a:rPr>
                <a:t>flow </a:t>
              </a:r>
              <a:r>
                <a:rPr sz="953" spc="-23" dirty="0">
                  <a:latin typeface="Verdana"/>
                  <a:cs typeface="Verdana"/>
                </a:rPr>
                <a:t>for </a:t>
              </a:r>
              <a:r>
                <a:rPr sz="953" spc="-9" dirty="0">
                  <a:latin typeface="Verdana"/>
                  <a:cs typeface="Verdana"/>
                </a:rPr>
                <a:t>texture</a:t>
              </a:r>
              <a:endParaRPr sz="953">
                <a:latin typeface="Verdana"/>
                <a:cs typeface="Verdana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07679" y="3912343"/>
              <a:ext cx="1462579" cy="1163729"/>
            </a:xfrm>
            <a:custGeom>
              <a:avLst/>
              <a:gdLst/>
              <a:ahLst/>
              <a:cxnLst/>
              <a:rect l="l" t="t" r="r" b="b"/>
              <a:pathLst>
                <a:path w="1612900" h="1283335">
                  <a:moveTo>
                    <a:pt x="0" y="641604"/>
                  </a:moveTo>
                  <a:lnTo>
                    <a:pt x="641603" y="0"/>
                  </a:lnTo>
                  <a:lnTo>
                    <a:pt x="641603" y="320040"/>
                  </a:lnTo>
                  <a:lnTo>
                    <a:pt x="1612392" y="320040"/>
                  </a:lnTo>
                  <a:lnTo>
                    <a:pt x="1612392" y="961643"/>
                  </a:lnTo>
                  <a:lnTo>
                    <a:pt x="641603" y="961643"/>
                  </a:lnTo>
                  <a:lnTo>
                    <a:pt x="641603" y="1283208"/>
                  </a:lnTo>
                  <a:lnTo>
                    <a:pt x="0" y="641604"/>
                  </a:lnTo>
                  <a:close/>
                </a:path>
              </a:pathLst>
            </a:custGeom>
            <a:ln w="1676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8487367" y="4240871"/>
              <a:ext cx="995589" cy="506530"/>
            </a:xfrm>
            <a:prstGeom prst="rect">
              <a:avLst/>
            </a:prstGeom>
          </p:spPr>
          <p:txBody>
            <a:bodyPr vert="horz" wrap="square" lIns="0" tIns="14395" rIns="0" bIns="0" rtlCol="0">
              <a:spAutoFit/>
            </a:bodyPr>
            <a:lstStyle/>
            <a:p>
              <a:pPr algn="ctr">
                <a:spcBef>
                  <a:spcPts val="114"/>
                </a:spcBef>
              </a:pPr>
              <a:r>
                <a:rPr sz="772" dirty="0">
                  <a:latin typeface="Verdana"/>
                  <a:cs typeface="Verdana"/>
                </a:rPr>
                <a:t>#9-12</a:t>
              </a:r>
              <a:r>
                <a:rPr sz="772" spc="68" dirty="0">
                  <a:latin typeface="Verdana"/>
                  <a:cs typeface="Verdana"/>
                </a:rPr>
                <a:t> </a:t>
              </a:r>
              <a:r>
                <a:rPr sz="772" b="1" spc="-9" dirty="0">
                  <a:latin typeface="Verdana"/>
                  <a:cs typeface="Verdana"/>
                </a:rPr>
                <a:t>PE/HAA</a:t>
              </a:r>
              <a:endParaRPr sz="772">
                <a:latin typeface="Verdana"/>
                <a:cs typeface="Verdana"/>
              </a:endParaRPr>
            </a:p>
            <a:p>
              <a:pPr marL="10941" marR="4606" indent="576" algn="ctr">
                <a:lnSpc>
                  <a:spcPts val="962"/>
                </a:lnSpc>
                <a:spcBef>
                  <a:spcPts val="23"/>
                </a:spcBef>
              </a:pPr>
              <a:r>
                <a:rPr sz="772" dirty="0">
                  <a:latin typeface="Verdana"/>
                  <a:cs typeface="Verdana"/>
                </a:rPr>
                <a:t>Expand</a:t>
              </a:r>
              <a:r>
                <a:rPr sz="772" spc="62" dirty="0">
                  <a:latin typeface="Verdana"/>
                  <a:cs typeface="Verdana"/>
                </a:rPr>
                <a:t> </a:t>
              </a:r>
              <a:r>
                <a:rPr sz="772" dirty="0">
                  <a:latin typeface="Verdana"/>
                  <a:cs typeface="Verdana"/>
                </a:rPr>
                <a:t>&amp;</a:t>
              </a:r>
              <a:r>
                <a:rPr sz="772" spc="36" dirty="0">
                  <a:latin typeface="Verdana"/>
                  <a:cs typeface="Verdana"/>
                </a:rPr>
                <a:t> </a:t>
              </a:r>
              <a:r>
                <a:rPr sz="772" spc="-9" dirty="0">
                  <a:latin typeface="Verdana"/>
                  <a:cs typeface="Verdana"/>
                </a:rPr>
                <a:t>contract </a:t>
              </a:r>
              <a:r>
                <a:rPr sz="772" dirty="0">
                  <a:latin typeface="Verdana"/>
                  <a:cs typeface="Verdana"/>
                </a:rPr>
                <a:t>as</a:t>
              </a:r>
              <a:r>
                <a:rPr sz="772" spc="41" dirty="0">
                  <a:latin typeface="Verdana"/>
                  <a:cs typeface="Verdana"/>
                </a:rPr>
                <a:t> </a:t>
              </a:r>
              <a:r>
                <a:rPr sz="772" dirty="0">
                  <a:latin typeface="Verdana"/>
                  <a:cs typeface="Verdana"/>
                </a:rPr>
                <a:t>they</a:t>
              </a:r>
              <a:r>
                <a:rPr sz="772" spc="44" dirty="0">
                  <a:latin typeface="Verdana"/>
                  <a:cs typeface="Verdana"/>
                </a:rPr>
                <a:t> </a:t>
              </a:r>
              <a:r>
                <a:rPr sz="772" dirty="0">
                  <a:latin typeface="Verdana"/>
                  <a:cs typeface="Verdana"/>
                </a:rPr>
                <a:t>shed</a:t>
              </a:r>
              <a:r>
                <a:rPr sz="772" spc="59" dirty="0">
                  <a:latin typeface="Verdana"/>
                  <a:cs typeface="Verdana"/>
                </a:rPr>
                <a:t> </a:t>
              </a:r>
              <a:r>
                <a:rPr sz="772" spc="-18" dirty="0">
                  <a:latin typeface="Verdana"/>
                  <a:cs typeface="Verdana"/>
                </a:rPr>
                <a:t>water </a:t>
              </a:r>
              <a:r>
                <a:rPr sz="772" dirty="0">
                  <a:latin typeface="Verdana"/>
                  <a:cs typeface="Verdana"/>
                </a:rPr>
                <a:t>during</a:t>
              </a:r>
              <a:r>
                <a:rPr sz="772" spc="73" dirty="0">
                  <a:latin typeface="Verdana"/>
                  <a:cs typeface="Verdana"/>
                </a:rPr>
                <a:t> </a:t>
              </a:r>
              <a:r>
                <a:rPr sz="772" spc="-18" dirty="0">
                  <a:latin typeface="Verdana"/>
                  <a:cs typeface="Verdana"/>
                </a:rPr>
                <a:t>cure</a:t>
              </a:r>
              <a:endParaRPr sz="772">
                <a:latin typeface="Verdana"/>
                <a:cs typeface="Verdana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350153" y="8482591"/>
            <a:ext cx="197506" cy="159435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1517">
              <a:spcBef>
                <a:spcPts val="100"/>
              </a:spcBef>
            </a:pPr>
            <a:r>
              <a:rPr sz="953" b="1" spc="-23" dirty="0">
                <a:solidFill>
                  <a:srgbClr val="002F8C"/>
                </a:solidFill>
                <a:latin typeface="Verdana"/>
                <a:cs typeface="Verdana"/>
              </a:rPr>
              <a:t>50</a:t>
            </a:r>
            <a:endParaRPr sz="9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76FDAFD-7584-503D-E8C8-0E7AB4CFED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Visually </a:t>
            </a:r>
            <a:r>
              <a:rPr lang="en-US" altLang="zh-TW" dirty="0" err="1"/>
              <a:t>MicroTex</a:t>
            </a:r>
            <a:r>
              <a:rPr lang="en-US" altLang="zh-TW" dirty="0"/>
              <a:t> 950 is the closest match to </a:t>
            </a:r>
            <a:r>
              <a:rPr lang="en-US" altLang="zh-TW" dirty="0" err="1"/>
              <a:t>Fluo</a:t>
            </a:r>
            <a:r>
              <a:rPr lang="en-US" altLang="zh-TW" dirty="0"/>
              <a:t> 750TX</a:t>
            </a:r>
          </a:p>
          <a:p>
            <a:r>
              <a:rPr lang="en-US" altLang="zh-TW" dirty="0"/>
              <a:t>Single digit gloss (&lt;6 gloss units/60°)</a:t>
            </a:r>
          </a:p>
          <a:p>
            <a:r>
              <a:rPr lang="en-US" altLang="zh-TW" dirty="0"/>
              <a:t>No negative effect on cross hatch adhesion or mandrel bend</a:t>
            </a:r>
          </a:p>
          <a:p>
            <a:r>
              <a:rPr lang="en-US" altLang="zh-TW" dirty="0"/>
              <a:t>Impact resistance was slightly lower in the polyesters versus the epoxy hybrid</a:t>
            </a:r>
          </a:p>
          <a:p>
            <a:r>
              <a:rPr lang="en-US" altLang="zh-TW" dirty="0"/>
              <a:t>Pellet flow indicates minor restricted flow; good for appearance and edge coverage in texture finishes</a:t>
            </a:r>
          </a:p>
          <a:p>
            <a:r>
              <a:rPr lang="en-US" altLang="zh-TW" dirty="0"/>
              <a:t>We are receiving very positive customer feedback and approvals worldwide</a:t>
            </a:r>
          </a:p>
          <a:p>
            <a:endParaRPr lang="zh-TW" altLang="en-US" dirty="0"/>
          </a:p>
        </p:txBody>
      </p:sp>
      <p:sp>
        <p:nvSpPr>
          <p:cNvPr id="5" name="object 5"/>
          <p:cNvSpPr txBox="1"/>
          <p:nvPr/>
        </p:nvSpPr>
        <p:spPr>
          <a:xfrm>
            <a:off x="7350153" y="8482591"/>
            <a:ext cx="197506" cy="159435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1517">
              <a:spcBef>
                <a:spcPts val="100"/>
              </a:spcBef>
            </a:pPr>
            <a:r>
              <a:rPr sz="953" b="1" spc="-23" dirty="0">
                <a:solidFill>
                  <a:srgbClr val="002F8C"/>
                </a:solidFill>
                <a:latin typeface="Verdana"/>
                <a:cs typeface="Verdana"/>
              </a:rPr>
              <a:t>51</a:t>
            </a:r>
            <a:endParaRPr sz="953">
              <a:latin typeface="Verdana"/>
              <a:cs typeface="Verdana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8D82C2F1-4AEF-9CB3-3CDD-187A0176ECEB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495425" y="7113588"/>
            <a:ext cx="386715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15">
            <a:extLst>
              <a:ext uri="{FF2B5EF4-FFF2-40B4-BE49-F238E27FC236}">
                <a16:creationId xmlns:a16="http://schemas.microsoft.com/office/drawing/2014/main" id="{410D5030-DAA2-8AC8-FAFA-DBDB3F662B8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528897" y="3244850"/>
            <a:ext cx="5800206" cy="386873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71488" y="1572278"/>
            <a:ext cx="5915025" cy="510226"/>
          </a:xfrm>
        </p:spPr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 err="1"/>
              <a:t>France:</a:t>
            </a:r>
            <a:r>
              <a:rPr lang="en-US" altLang="zh-TW" sz="3600" b="1" spc="-9" dirty="0" err="1">
                <a:solidFill>
                  <a:srgbClr val="002F8C"/>
                </a:solidFill>
                <a:latin typeface="Verdana"/>
                <a:cs typeface="Verdana"/>
              </a:rPr>
              <a:t>Axalta</a:t>
            </a:r>
            <a:endParaRPr lang="en-US" dirty="0"/>
          </a:p>
        </p:txBody>
      </p:sp>
      <p:pic>
        <p:nvPicPr>
          <p:cNvPr id="29" name="內容版面配置區 28">
            <a:extLst>
              <a:ext uri="{FF2B5EF4-FFF2-40B4-BE49-F238E27FC236}">
                <a16:creationId xmlns:a16="http://schemas.microsoft.com/office/drawing/2014/main" id="{49BF2874-5C63-2ECA-55CD-387BE242A6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32387" y="7318797"/>
            <a:ext cx="3993226" cy="34567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7418-30B5-4F3B-A728-E633788A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F4F914D7-2451-7795-99A9-F7A201F45B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zh-TW" altLang="zh-TW" dirty="0"/>
              <a:t>USA: Spectra Photopolymer</a:t>
            </a:r>
            <a:endParaRPr lang="en-US" dirty="0"/>
          </a:p>
        </p:txBody>
      </p:sp>
      <p:pic>
        <p:nvPicPr>
          <p:cNvPr id="22" name="內容版面配置區 21">
            <a:extLst>
              <a:ext uri="{FF2B5EF4-FFF2-40B4-BE49-F238E27FC236}">
                <a16:creationId xmlns:a16="http://schemas.microsoft.com/office/drawing/2014/main" id="{69308C29-3CED-2197-519B-D5D1FEA9D9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0939" y="7318797"/>
            <a:ext cx="4176122" cy="3456732"/>
          </a:xfrm>
          <a:prstGeom prst="rect">
            <a:avLst/>
          </a:prstGeom>
        </p:spPr>
      </p:pic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5860A66D-A1B2-E946-8605-D691EA4EED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92327" y="3718644"/>
            <a:ext cx="1873346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0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Performance Study Overview</a:t>
            </a:r>
            <a:endParaRPr 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A6043B3-7F6A-3E55-A8D6-748A1BFAD6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Compare the following </a:t>
            </a:r>
            <a:r>
              <a:rPr lang="en-US" altLang="zh-TW" dirty="0" err="1"/>
              <a:t>PropylMatte</a:t>
            </a:r>
            <a:r>
              <a:rPr lang="en-US" altLang="zh-TW" dirty="0"/>
              <a:t> grades</a:t>
            </a:r>
          </a:p>
          <a:p>
            <a:pPr lvl="1"/>
            <a:r>
              <a:rPr lang="en-US" altLang="zh-TW" dirty="0" err="1"/>
              <a:t>PropylMatte</a:t>
            </a:r>
            <a:r>
              <a:rPr lang="en-US" altLang="zh-TW" dirty="0"/>
              <a:t> 31, </a:t>
            </a:r>
            <a:r>
              <a:rPr lang="en-US" altLang="zh-TW" dirty="0" err="1"/>
              <a:t>PropylMatte</a:t>
            </a:r>
            <a:r>
              <a:rPr lang="en-US" altLang="zh-TW" dirty="0"/>
              <a:t> 31HD &amp; </a:t>
            </a:r>
            <a:r>
              <a:rPr lang="en-US" altLang="zh-TW" dirty="0" err="1"/>
              <a:t>PropylMatte</a:t>
            </a:r>
            <a:r>
              <a:rPr lang="en-US" altLang="zh-TW" dirty="0"/>
              <a:t> 31SA</a:t>
            </a:r>
          </a:p>
          <a:p>
            <a:pPr lvl="1"/>
            <a:r>
              <a:rPr lang="en-US" altLang="zh-TW" dirty="0"/>
              <a:t>Clear waterborne 1K polyurethane dispersion</a:t>
            </a:r>
          </a:p>
          <a:p>
            <a:r>
              <a:rPr lang="en-US" altLang="zh-TW" dirty="0"/>
              <a:t>Preparation</a:t>
            </a:r>
          </a:p>
          <a:p>
            <a:pPr lvl="1"/>
            <a:r>
              <a:rPr lang="en-US" altLang="zh-TW" dirty="0"/>
              <a:t>Reichhold </a:t>
            </a:r>
            <a:r>
              <a:rPr lang="en-US" altLang="zh-TW" dirty="0" err="1"/>
              <a:t>Urotuff</a:t>
            </a:r>
            <a:r>
              <a:rPr lang="en-US" altLang="zh-TW" dirty="0"/>
              <a:t> L63-MPW38</a:t>
            </a:r>
          </a:p>
          <a:p>
            <a:pPr lvl="1"/>
            <a:r>
              <a:rPr lang="en-US" altLang="zh-TW" dirty="0"/>
              <a:t>Level of addition at 4.0% TFW</a:t>
            </a:r>
          </a:p>
          <a:p>
            <a:pPr lvl="1"/>
            <a:r>
              <a:rPr lang="en-US" altLang="zh-TW" dirty="0"/>
              <a:t>#60 rod - 6.0 mil WFT</a:t>
            </a:r>
          </a:p>
          <a:p>
            <a:pPr lvl="1"/>
            <a:r>
              <a:rPr lang="en-US" altLang="zh-TW" dirty="0"/>
              <a:t>S-18 Taber panels</a:t>
            </a:r>
          </a:p>
          <a:p>
            <a:pPr lvl="1"/>
            <a:r>
              <a:rPr lang="en-US" altLang="zh-TW" dirty="0"/>
              <a:t>Dried one week</a:t>
            </a:r>
          </a:p>
          <a:p>
            <a:endParaRPr lang="zh-TW" altLang="en-US" dirty="0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C74516F6-0BD9-EC4F-780B-05B1FF9D4D9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485900" y="7589838"/>
            <a:ext cx="38862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Study Overview</a:t>
            </a:r>
            <a:endParaRPr 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824E794-C69B-8758-22F3-771ABE4F3D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Taber Abrasion Analysis</a:t>
            </a:r>
          </a:p>
          <a:p>
            <a:pPr lvl="1"/>
            <a:r>
              <a:rPr lang="en-US" altLang="zh-TW" dirty="0"/>
              <a:t>CS17 wheel</a:t>
            </a:r>
          </a:p>
          <a:p>
            <a:pPr lvl="2"/>
            <a:r>
              <a:rPr lang="en-US" altLang="zh-TW" dirty="0"/>
              <a:t>Produces a harsher abrasion than the smoother 	CS-10 wheel</a:t>
            </a:r>
          </a:p>
          <a:p>
            <a:pPr lvl="1"/>
            <a:r>
              <a:rPr lang="en-US" altLang="zh-TW" dirty="0"/>
              <a:t>1,000 gram load</a:t>
            </a:r>
          </a:p>
          <a:p>
            <a:pPr lvl="1"/>
            <a:r>
              <a:rPr lang="en-US" altLang="zh-TW" dirty="0"/>
              <a:t>3,000 cycles - 500 cycles</a:t>
            </a:r>
          </a:p>
          <a:p>
            <a:pPr lvl="2"/>
            <a:r>
              <a:rPr lang="en-US" altLang="zh-TW" dirty="0"/>
              <a:t>Check the panels weight</a:t>
            </a:r>
          </a:p>
          <a:p>
            <a:pPr lvl="2"/>
            <a:r>
              <a:rPr lang="en-US" altLang="zh-TW" dirty="0"/>
              <a:t>Repurpose the wheel</a:t>
            </a:r>
          </a:p>
          <a:p>
            <a:endParaRPr lang="zh-TW" altLang="en-US" dirty="0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003A82E9-7B51-33A4-B2A7-2F73B09864A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71488" y="7228583"/>
            <a:ext cx="5915025" cy="3637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Study Overview</a:t>
            </a:r>
            <a:endParaRPr 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82D56A0-A8EB-36B7-4760-6F5E10E56F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Coefﬁcient of friction (COF)</a:t>
            </a:r>
          </a:p>
          <a:p>
            <a:pPr lvl="1"/>
            <a:r>
              <a:rPr lang="en-US" altLang="zh-TW" dirty="0"/>
              <a:t>Static and kinetic</a:t>
            </a:r>
          </a:p>
          <a:p>
            <a:pPr lvl="1"/>
            <a:r>
              <a:rPr lang="en-US" altLang="zh-TW" dirty="0"/>
              <a:t>200g sliding sled - 0.1 inches/second</a:t>
            </a:r>
          </a:p>
          <a:p>
            <a:pPr lvl="1"/>
            <a:r>
              <a:rPr lang="en-US" altLang="zh-TW" dirty="0"/>
              <a:t>Measured by a force gauge</a:t>
            </a:r>
          </a:p>
          <a:p>
            <a:r>
              <a:rPr lang="en-US" altLang="zh-TW" dirty="0"/>
              <a:t>Measuring gloss of the cured ﬁlm</a:t>
            </a:r>
          </a:p>
          <a:p>
            <a:pPr lvl="1"/>
            <a:r>
              <a:rPr lang="en-US" altLang="zh-TW" dirty="0"/>
              <a:t>60° &amp; 85°</a:t>
            </a:r>
          </a:p>
          <a:p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7599629-8C3A-69C9-4720-75A093DD84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1488" y="7141504"/>
            <a:ext cx="5915025" cy="38113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Coating removed after 2,000 cycles (mg)</a:t>
            </a:r>
            <a:endParaRPr lang="en-US"/>
          </a:p>
        </p:txBody>
      </p:sp>
      <p:pic>
        <p:nvPicPr>
          <p:cNvPr id="48" name="內容版面配置區 47">
            <a:extLst>
              <a:ext uri="{FF2B5EF4-FFF2-40B4-BE49-F238E27FC236}">
                <a16:creationId xmlns:a16="http://schemas.microsoft.com/office/drawing/2014/main" id="{D3426CC1-E912-3F67-8475-101165F951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358346"/>
            <a:ext cx="5915025" cy="3641746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B9B6E0-52D1-9304-9211-BE2C02383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51C08-024E-1621-5AF8-510B456C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7BCDED-2ABA-9585-152B-F990E42E6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FB56B25-6DAA-BCD7-4992-BA120030F4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292728"/>
            <a:ext cx="5915025" cy="37729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Gloss reduction at4.0% dosage (on TFW)</a:t>
            </a:r>
          </a:p>
        </p:txBody>
      </p:sp>
      <p:pic>
        <p:nvPicPr>
          <p:cNvPr id="41" name="內容版面配置區 40">
            <a:extLst>
              <a:ext uri="{FF2B5EF4-FFF2-40B4-BE49-F238E27FC236}">
                <a16:creationId xmlns:a16="http://schemas.microsoft.com/office/drawing/2014/main" id="{86342432-1C0B-ED0A-27CC-86E29F4A6D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367062"/>
            <a:ext cx="5915025" cy="3624313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2D9AE04-CD3B-FCB4-46EF-A02BBEC782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Powder Coatings Q-panels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864B336-A755-9EB0-0024-E35B211BF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Preferred dark (black) color</a:t>
            </a:r>
          </a:p>
          <a:p>
            <a:pPr lvl="1"/>
            <a:r>
              <a:rPr lang="en-US" altLang="zh-TW" dirty="0"/>
              <a:t>Demonstrates clarity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Common resin systems</a:t>
            </a:r>
          </a:p>
          <a:p>
            <a:pPr lvl="1"/>
            <a:r>
              <a:rPr lang="en-US" altLang="zh-TW" dirty="0"/>
              <a:t>Polyester/TGIC</a:t>
            </a:r>
          </a:p>
          <a:p>
            <a:pPr lvl="1"/>
            <a:r>
              <a:rPr lang="en-US" altLang="zh-TW" dirty="0"/>
              <a:t>Epoxy/Polyester Hybrid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Recommended % dosage</a:t>
            </a:r>
          </a:p>
          <a:p>
            <a:endParaRPr lang="en-US" altLang="zh-TW" dirty="0"/>
          </a:p>
          <a:p>
            <a:r>
              <a:rPr lang="en-US" altLang="zh-TW" dirty="0"/>
              <a:t>Formulations available upon request</a:t>
            </a:r>
          </a:p>
          <a:p>
            <a:endParaRPr lang="zh-TW" altLang="en-US" dirty="0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EDF614A1-5D68-47EC-CAFB-0F5D8A45D8B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626011" y="7113588"/>
            <a:ext cx="3605979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06B1-9579-7FC8-D9BB-74DCE62A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E71A7-C240-7071-1581-FB0009E7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MP-28AL vs. Polyolefin Wax-PTFE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AC1A0D7-E766-E173-74FB-DA66D16DEB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4088931"/>
            <a:ext cx="5915025" cy="2180575"/>
          </a:xfrm>
        </p:spPr>
      </p:pic>
      <p:pic>
        <p:nvPicPr>
          <p:cNvPr id="9" name="內容版面配置區 4">
            <a:extLst>
              <a:ext uri="{FF2B5EF4-FFF2-40B4-BE49-F238E27FC236}">
                <a16:creationId xmlns:a16="http://schemas.microsoft.com/office/drawing/2014/main" id="{FB44239B-CDA1-4AC0-BED3-78C04109A5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381720"/>
            <a:ext cx="5915025" cy="3330885"/>
          </a:xfrm>
        </p:spPr>
      </p:pic>
    </p:spTree>
    <p:extLst>
      <p:ext uri="{BB962C8B-B14F-4D97-AF65-F5344CB8AC3E}">
        <p14:creationId xmlns:p14="http://schemas.microsoft.com/office/powerpoint/2010/main" val="206493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C23154-2AB5-1690-8BC6-9141A1D0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8B8F08-468F-77BE-2B5E-ACB62300C2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6713" y="3244850"/>
            <a:ext cx="5844574" cy="3868738"/>
          </a:xfr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84BE1CAA-9A5F-EFBC-8F32-433F5B9F31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386633"/>
            <a:ext cx="5915025" cy="3321060"/>
          </a:xfrm>
        </p:spPr>
      </p:pic>
    </p:spTree>
    <p:extLst>
      <p:ext uri="{BB962C8B-B14F-4D97-AF65-F5344CB8AC3E}">
        <p14:creationId xmlns:p14="http://schemas.microsoft.com/office/powerpoint/2010/main" val="1924180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23D8-A6A4-A3EF-AA4C-177CFDE5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6231A-C6BD-B3FD-8710-B640B2C0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案例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3536D98-2213-25BE-AB48-B5D3DC73A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 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C34DFE3-870E-8F98-320E-707E445753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8056E13-B59F-C8AD-39A4-EB6179D6B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93" y="2723085"/>
            <a:ext cx="2880000" cy="214901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890C21E-FFCB-ED0F-3483-0ACA87ABB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93" y="5447801"/>
            <a:ext cx="2880000" cy="22252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9DA15B-A37D-99E2-4EAD-EFC332877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893" y="8979842"/>
            <a:ext cx="2880000" cy="241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45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3C4052CB-F639-C49A-F970-AF564CFD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Performance testing – Coefficient of Friction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D845A985-3523-5920-85CE-6DF92E34E2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0393" t="24294" r="54683" b="1483"/>
          <a:stretch>
            <a:fillRect/>
          </a:stretch>
        </p:blipFill>
        <p:spPr>
          <a:xfrm>
            <a:off x="1477729" y="3425678"/>
            <a:ext cx="3902542" cy="3507081"/>
          </a:xfrm>
          <a:prstGeom prst="rect">
            <a:avLst/>
          </a:prstGeom>
        </p:spPr>
      </p:pic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1EDFE1A2-AC91-623B-82B3-900F8C2BB3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54451" t="24465" r="10625"/>
          <a:stretch>
            <a:fillRect/>
          </a:stretch>
        </p:blipFill>
        <p:spPr>
          <a:xfrm>
            <a:off x="1477729" y="7262626"/>
            <a:ext cx="3902542" cy="35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12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861C-1CF2-633A-83AC-5B50ED46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D32BFC-3023-935B-234D-1352D7C2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COF Result</a:t>
            </a:r>
            <a:endParaRPr lang="zh-TW" altLang="en-US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5E38CBF2-BF99-69A7-3F5A-26FC083DC4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717860"/>
            <a:ext cx="5915025" cy="2922718"/>
          </a:xfr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2CF942-8896-2AA0-11BD-DC26A1919C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527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49CBD-2509-5A1B-D740-AF8D73B7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Scratch resistance testing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A5A3F0F-30FC-4B72-A24D-182D35CB96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571394"/>
            <a:ext cx="5915025" cy="3215649"/>
          </a:xfrm>
          <a:prstGeom prst="rect">
            <a:avLst/>
          </a:prstGeom>
        </p:spPr>
      </p:pic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8F4D73AC-75D8-CDE4-6AA4-C07620055C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8043639"/>
            <a:ext cx="5915025" cy="200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07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CEA2F4-CB62-CCDE-CF72-5D5E5795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25F96C1-47EA-3FA4-0CE5-F20A118836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22F62AB6-A3AF-44F7-7401-2E9AABA55E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651636"/>
            <a:ext cx="5915025" cy="305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6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C762-FCFE-064C-A55D-1B55573E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B1CCACA4-0D3E-E808-AA93-E2CBB15998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zh-TW" altLang="zh-TW" dirty="0"/>
              <a:t>Türkiye: Axalta</a:t>
            </a:r>
            <a:endParaRPr lang="en-US" dirty="0"/>
          </a:p>
        </p:txBody>
      </p:sp>
      <p:pic>
        <p:nvPicPr>
          <p:cNvPr id="31" name="內容版面配置區 30">
            <a:extLst>
              <a:ext uri="{FF2B5EF4-FFF2-40B4-BE49-F238E27FC236}">
                <a16:creationId xmlns:a16="http://schemas.microsoft.com/office/drawing/2014/main" id="{E1AC8F9A-E1EB-0B9A-200D-B55DFEC1A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0939" y="7318797"/>
            <a:ext cx="4176122" cy="3456732"/>
          </a:xfrm>
          <a:prstGeom prst="rect">
            <a:avLst/>
          </a:prstGeom>
        </p:spPr>
      </p:pic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5DAF8979-BEC9-88D7-519A-548962A22F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358970" y="4236195"/>
            <a:ext cx="2140060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47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B90F38B-1148-42D5-6DC6-FE60F683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8F6ABB-B62E-DFF8-DF5D-5F34FD4A8D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752299"/>
            <a:ext cx="5915025" cy="2853839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BD6C459-42F5-E0DE-2510-F339ACBDF2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222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Dispersibility of Superslip 6515AL-EZ</a:t>
            </a:r>
          </a:p>
        </p:txBody>
      </p:sp>
      <p:pic>
        <p:nvPicPr>
          <p:cNvPr id="27" name="內容版面配置區 26">
            <a:extLst>
              <a:ext uri="{FF2B5EF4-FFF2-40B4-BE49-F238E27FC236}">
                <a16:creationId xmlns:a16="http://schemas.microsoft.com/office/drawing/2014/main" id="{4AD2244A-12CA-2257-646A-E2FADFE1D7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4005025"/>
            <a:ext cx="5915025" cy="2348387"/>
          </a:xfrm>
          <a:prstGeom prst="rect">
            <a:avLst/>
          </a:prstGeom>
        </p:spPr>
      </p:pic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C8264B8A-DDCC-CB9A-3438-E96F991D60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/>
              <a:t>USA:</a:t>
            </a:r>
          </a:p>
        </p:txBody>
      </p:sp>
      <p:pic>
        <p:nvPicPr>
          <p:cNvPr id="23" name="內容版面配置區 22">
            <a:extLst>
              <a:ext uri="{FF2B5EF4-FFF2-40B4-BE49-F238E27FC236}">
                <a16:creationId xmlns:a16="http://schemas.microsoft.com/office/drawing/2014/main" id="{82FB54D4-F280-1EA5-DF7D-A9B2991C13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422" y="3804452"/>
            <a:ext cx="4115157" cy="2749534"/>
          </a:xfrm>
          <a:prstGeom prst="rect">
            <a:avLst/>
          </a:prstGeom>
        </p:spPr>
      </p:pic>
      <p:pic>
        <p:nvPicPr>
          <p:cNvPr id="25" name="內容版面配置區 24">
            <a:extLst>
              <a:ext uri="{FF2B5EF4-FFF2-40B4-BE49-F238E27FC236}">
                <a16:creationId xmlns:a16="http://schemas.microsoft.com/office/drawing/2014/main" id="{BE6B8037-CA7F-6AE0-1C3C-CC5C89B877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40939" y="7318797"/>
            <a:ext cx="4176122" cy="34567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A355-03D0-6F63-6BB6-638145E4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F801707-32AA-E5D7-A75C-4399E432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Performance Study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8E673C5-A3E1-1A5E-CF96-D925F6E0DF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4213370"/>
            <a:ext cx="5915025" cy="1931698"/>
          </a:xfr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9851069D-39FB-E35C-4E14-7A04B2D669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0112" y="7986658"/>
            <a:ext cx="5397777" cy="2121009"/>
          </a:xfrm>
        </p:spPr>
      </p:pic>
    </p:spTree>
    <p:extLst>
      <p:ext uri="{BB962C8B-B14F-4D97-AF65-F5344CB8AC3E}">
        <p14:creationId xmlns:p14="http://schemas.microsoft.com/office/powerpoint/2010/main" val="3936801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B6F4E9-DC02-3B27-FBF8-5E7DBAA7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Test Methods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2199E59-EF21-D2C2-0B6C-44CC2FED8E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4004852"/>
            <a:ext cx="5915025" cy="2348733"/>
          </a:xfrm>
        </p:spPr>
      </p:pic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B504979B-1DDE-4E6F-23AB-738F4B77BC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67735" y="7113588"/>
            <a:ext cx="5122531" cy="3867150"/>
          </a:xfrm>
        </p:spPr>
      </p:pic>
    </p:spTree>
    <p:extLst>
      <p:ext uri="{BB962C8B-B14F-4D97-AF65-F5344CB8AC3E}">
        <p14:creationId xmlns:p14="http://schemas.microsoft.com/office/powerpoint/2010/main" val="1749153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1DA72A3-019B-5113-4F0B-0E6400C0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35BE8F6-BBA6-8E9C-99BA-E068B52EC1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4366" y="3244850"/>
            <a:ext cx="4889268" cy="3868738"/>
          </a:xfr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3B42EE34-C1F7-52B8-A068-5394F70F0F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72524" y="7113588"/>
            <a:ext cx="4912953" cy="3867150"/>
          </a:xfrm>
        </p:spPr>
      </p:pic>
    </p:spTree>
    <p:extLst>
      <p:ext uri="{BB962C8B-B14F-4D97-AF65-F5344CB8AC3E}">
        <p14:creationId xmlns:p14="http://schemas.microsoft.com/office/powerpoint/2010/main" val="3961230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5442-93D3-8265-7527-492FA644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BEA38-0612-8DB4-FFB1-F4F83528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案例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2F16460-BBD7-AEF0-DA79-3542D6A80F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1488" y="4132347"/>
            <a:ext cx="5915025" cy="2093743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8C2C7E3-3035-89BA-C9BA-BB7E55D603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078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9FF8160-DD3B-B098-F548-D8C66C00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4BB1380E-53D8-E55B-C04B-A767DD8100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488" y="3247385"/>
            <a:ext cx="5915025" cy="3863667"/>
          </a:xfrm>
          <a:prstGeom prst="rect">
            <a:avLst/>
          </a:prstGeom>
        </p:spPr>
      </p:pic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CC9114BA-C7F2-446F-7330-B6F99094E2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1488" y="7130717"/>
            <a:ext cx="5915025" cy="383289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37</a:t>
            </a:fld>
            <a:endParaRPr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21B47270-5681-834E-BE25-57EB25CADF3F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wrap="square" lIns="0" tIns="39732" rIns="0" bIns="0" rtlCol="0">
            <a:spAutoFit/>
          </a:bodyPr>
          <a:lstStyle/>
          <a:p>
            <a:pPr marL="193478" marR="928806" indent="-182536">
              <a:lnSpc>
                <a:spcPts val="1705"/>
              </a:lnSpc>
              <a:spcBef>
                <a:spcPts val="313"/>
              </a:spcBef>
              <a:buFont typeface="Arial"/>
              <a:buChar char="•"/>
              <a:tabLst>
                <a:tab pos="193478" algn="l"/>
              </a:tabLst>
            </a:pPr>
            <a:r>
              <a:rPr sz="1588" spc="-32" dirty="0">
                <a:latin typeface="Verdana"/>
                <a:cs typeface="Verdana"/>
              </a:rPr>
              <a:t>PFAS-</a:t>
            </a:r>
            <a:r>
              <a:rPr sz="1588" dirty="0">
                <a:latin typeface="Verdana"/>
                <a:cs typeface="Verdana"/>
              </a:rPr>
              <a:t>free</a:t>
            </a:r>
            <a:r>
              <a:rPr sz="1588" spc="-32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protection</a:t>
            </a:r>
            <a:r>
              <a:rPr sz="1588" spc="-14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in</a:t>
            </a:r>
            <a:r>
              <a:rPr sz="1588" spc="9" dirty="0">
                <a:latin typeface="Verdana"/>
                <a:cs typeface="Verdana"/>
              </a:rPr>
              <a:t> </a:t>
            </a:r>
            <a:r>
              <a:rPr sz="1588" spc="-18" dirty="0">
                <a:latin typeface="Verdana"/>
                <a:cs typeface="Verdana"/>
              </a:rPr>
              <a:t>high </a:t>
            </a:r>
            <a:r>
              <a:rPr sz="1588" dirty="0">
                <a:latin typeface="Verdana"/>
                <a:cs typeface="Verdana"/>
              </a:rPr>
              <a:t>specification</a:t>
            </a:r>
            <a:r>
              <a:rPr sz="1588" spc="-50" dirty="0">
                <a:latin typeface="Verdana"/>
                <a:cs typeface="Verdana"/>
              </a:rPr>
              <a:t> </a:t>
            </a:r>
            <a:r>
              <a:rPr sz="1588" spc="-9" dirty="0">
                <a:latin typeface="Verdana"/>
                <a:cs typeface="Verdana"/>
              </a:rPr>
              <a:t>coatings</a:t>
            </a:r>
            <a:endParaRPr sz="1588" dirty="0">
              <a:latin typeface="Verdana"/>
              <a:cs typeface="Verdana"/>
            </a:endParaRPr>
          </a:p>
          <a:p>
            <a:pPr marL="193478" marR="113438" indent="-182536">
              <a:lnSpc>
                <a:spcPts val="1723"/>
              </a:lnSpc>
              <a:spcBef>
                <a:spcPts val="798"/>
              </a:spcBef>
              <a:buFont typeface="Arial"/>
              <a:buChar char="•"/>
              <a:tabLst>
                <a:tab pos="193478" algn="l"/>
              </a:tabLst>
            </a:pPr>
            <a:r>
              <a:rPr sz="1588" spc="-18" dirty="0">
                <a:latin typeface="Verdana"/>
                <a:cs typeface="Verdana"/>
              </a:rPr>
              <a:t>PolyTuf</a:t>
            </a:r>
            <a:r>
              <a:rPr sz="1588" spc="-41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1229</a:t>
            </a:r>
            <a:r>
              <a:rPr sz="1588" spc="-44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provided</a:t>
            </a:r>
            <a:r>
              <a:rPr sz="1588" spc="-27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similar</a:t>
            </a:r>
            <a:r>
              <a:rPr sz="1588" spc="-18" dirty="0">
                <a:latin typeface="Verdana"/>
                <a:cs typeface="Verdana"/>
              </a:rPr>
              <a:t> </a:t>
            </a:r>
            <a:r>
              <a:rPr sz="1588" spc="-9" dirty="0">
                <a:latin typeface="Verdana"/>
                <a:cs typeface="Verdana"/>
              </a:rPr>
              <a:t>pencil </a:t>
            </a:r>
            <a:r>
              <a:rPr sz="1588" dirty="0">
                <a:latin typeface="Verdana"/>
                <a:cs typeface="Verdana"/>
              </a:rPr>
              <a:t>scratch</a:t>
            </a:r>
            <a:r>
              <a:rPr sz="1588" spc="-68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hardness</a:t>
            </a:r>
            <a:r>
              <a:rPr sz="1588" spc="-53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to</a:t>
            </a:r>
            <a:r>
              <a:rPr sz="1588" spc="-59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Polyfluo</a:t>
            </a:r>
            <a:r>
              <a:rPr sz="1588" spc="-18" dirty="0">
                <a:latin typeface="Verdana"/>
                <a:cs typeface="Verdana"/>
              </a:rPr>
              <a:t> </a:t>
            </a:r>
            <a:r>
              <a:rPr sz="1588" spc="-23" dirty="0">
                <a:latin typeface="Verdana"/>
                <a:cs typeface="Verdana"/>
              </a:rPr>
              <a:t>190</a:t>
            </a:r>
            <a:endParaRPr sz="1588" dirty="0">
              <a:latin typeface="Verdana"/>
              <a:cs typeface="Verdana"/>
            </a:endParaRPr>
          </a:p>
          <a:p>
            <a:pPr marL="193478" marR="4606" indent="-182536">
              <a:lnSpc>
                <a:spcPct val="90100"/>
              </a:lnSpc>
              <a:spcBef>
                <a:spcPts val="764"/>
              </a:spcBef>
              <a:buFont typeface="Arial"/>
              <a:buChar char="•"/>
              <a:tabLst>
                <a:tab pos="193478" algn="l"/>
              </a:tabLst>
            </a:pPr>
            <a:r>
              <a:rPr sz="1588" dirty="0">
                <a:latin typeface="Verdana"/>
                <a:cs typeface="Verdana"/>
              </a:rPr>
              <a:t>Superior</a:t>
            </a:r>
            <a:r>
              <a:rPr sz="1588" spc="-68" dirty="0">
                <a:latin typeface="Verdana"/>
                <a:cs typeface="Verdana"/>
              </a:rPr>
              <a:t> </a:t>
            </a:r>
            <a:r>
              <a:rPr sz="1588" spc="-23" dirty="0">
                <a:latin typeface="Verdana"/>
                <a:cs typeface="Verdana"/>
              </a:rPr>
              <a:t>Taber</a:t>
            </a:r>
            <a:r>
              <a:rPr sz="1588" spc="-82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abrasion</a:t>
            </a:r>
            <a:r>
              <a:rPr sz="1588" spc="-53" dirty="0">
                <a:latin typeface="Verdana"/>
                <a:cs typeface="Verdana"/>
              </a:rPr>
              <a:t> </a:t>
            </a:r>
            <a:r>
              <a:rPr sz="1588" spc="-9" dirty="0">
                <a:latin typeface="Verdana"/>
                <a:cs typeface="Verdana"/>
              </a:rPr>
              <a:t>performance </a:t>
            </a:r>
            <a:r>
              <a:rPr sz="1588" dirty="0">
                <a:latin typeface="Verdana"/>
                <a:cs typeface="Verdana"/>
              </a:rPr>
              <a:t>versus</a:t>
            </a:r>
            <a:r>
              <a:rPr sz="1588" spc="-62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Polyfluo</a:t>
            </a:r>
            <a:r>
              <a:rPr sz="1588" spc="-27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190</a:t>
            </a:r>
            <a:r>
              <a:rPr sz="1588" spc="-41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and</a:t>
            </a:r>
            <a:r>
              <a:rPr sz="1588" spc="-62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Polyfluo</a:t>
            </a:r>
            <a:r>
              <a:rPr sz="1588" spc="-27" dirty="0">
                <a:latin typeface="Verdana"/>
                <a:cs typeface="Verdana"/>
              </a:rPr>
              <a:t> </a:t>
            </a:r>
            <a:r>
              <a:rPr sz="1588" spc="-23" dirty="0">
                <a:latin typeface="Verdana"/>
                <a:cs typeface="Verdana"/>
              </a:rPr>
              <a:t>900 </a:t>
            </a:r>
            <a:r>
              <a:rPr sz="1588" dirty="0">
                <a:latin typeface="Verdana"/>
                <a:cs typeface="Verdana"/>
              </a:rPr>
              <a:t>with</a:t>
            </a:r>
            <a:r>
              <a:rPr sz="1588" spc="-14" dirty="0">
                <a:latin typeface="Verdana"/>
                <a:cs typeface="Verdana"/>
              </a:rPr>
              <a:t> </a:t>
            </a:r>
            <a:r>
              <a:rPr sz="1588" dirty="0">
                <a:latin typeface="Verdana"/>
                <a:cs typeface="Verdana"/>
              </a:rPr>
              <a:t>only</a:t>
            </a:r>
            <a:r>
              <a:rPr sz="1588" spc="-9" dirty="0"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BF0000"/>
                </a:solidFill>
                <a:latin typeface="Verdana"/>
                <a:cs typeface="Verdana"/>
              </a:rPr>
              <a:t>22.3</a:t>
            </a:r>
            <a:r>
              <a:rPr sz="1588" spc="-36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BF0000"/>
                </a:solidFill>
                <a:latin typeface="Verdana"/>
                <a:cs typeface="Verdana"/>
              </a:rPr>
              <a:t>mg</a:t>
            </a:r>
            <a:r>
              <a:rPr sz="1588" spc="-14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BF0000"/>
                </a:solidFill>
                <a:latin typeface="Verdana"/>
                <a:cs typeface="Verdana"/>
              </a:rPr>
              <a:t>weight loss</a:t>
            </a:r>
            <a:r>
              <a:rPr sz="1588" spc="-23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588" spc="-9" dirty="0">
                <a:solidFill>
                  <a:srgbClr val="BF0000"/>
                </a:solidFill>
                <a:latin typeface="Verdana"/>
                <a:cs typeface="Verdana"/>
              </a:rPr>
              <a:t>after </a:t>
            </a:r>
            <a:r>
              <a:rPr sz="1588" dirty="0">
                <a:solidFill>
                  <a:srgbClr val="BF0000"/>
                </a:solidFill>
                <a:latin typeface="Verdana"/>
                <a:cs typeface="Verdana"/>
              </a:rPr>
              <a:t>2,500</a:t>
            </a:r>
            <a:r>
              <a:rPr sz="1588" spc="-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588" spc="-9" dirty="0">
                <a:solidFill>
                  <a:srgbClr val="BF0000"/>
                </a:solidFill>
                <a:latin typeface="Verdana"/>
                <a:cs typeface="Verdana"/>
              </a:rPr>
              <a:t>cycles</a:t>
            </a:r>
            <a:endParaRPr sz="1588" dirty="0">
              <a:latin typeface="Verdana"/>
              <a:cs typeface="Verdana"/>
            </a:endParaRP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19B81F02-8CA0-D55B-4373-79E8CAF52CD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590209" y="7113588"/>
            <a:ext cx="3677583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Industrial Wood finishes</a:t>
            </a:r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63210433-21EA-8AE9-994E-2EF77CED70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422" y="3804452"/>
            <a:ext cx="4115157" cy="2749534"/>
          </a:xfrm>
          <a:prstGeom prst="rect">
            <a:avLst/>
          </a:prstGeom>
        </p:spPr>
      </p:pic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2FEEF7C4-6486-1967-5E7A-6F47B78B50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26883" y="8321676"/>
            <a:ext cx="3804234" cy="14509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203628" rIns="0" bIns="0" rtlCol="0" anchor="ctr">
            <a:spAutoFit/>
          </a:bodyPr>
          <a:lstStyle/>
          <a:p>
            <a:r>
              <a:rPr lang="en-US" dirty="0"/>
              <a:t>GI, Protective &amp; Marine</a:t>
            </a:r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69DF88B8-4469-715C-258C-3EFC449249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67781" y="8190601"/>
            <a:ext cx="4322439" cy="17131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1051" b="1" i="0">
                <a:solidFill>
                  <a:srgbClr val="002F8C"/>
                </a:solidFill>
                <a:latin typeface="Verdana"/>
                <a:cs typeface="Verdana"/>
              </a:defRPr>
            </a:lvl1pPr>
          </a:lstStyle>
          <a:p>
            <a:r>
              <a:rPr lang="en-US" altLang="zh-TW"/>
              <a:t>4</a:t>
            </a:r>
            <a:fld id="{81D60167-4931-47E6-BA6A-407CBD079E47}" type="slidenum">
              <a:rPr smtClean="0"/>
              <a:pPr/>
              <a:t>39</a:t>
            </a:fld>
            <a:endParaRPr dirty="0"/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ADE6EA4A-3296-A828-23AD-7AE79AEDC93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120627" y="3244850"/>
            <a:ext cx="4616747" cy="38687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71488" y="1572278"/>
            <a:ext cx="5915025" cy="510226"/>
          </a:xfrm>
        </p:spPr>
        <p:txBody>
          <a:bodyPr vert="horz" wrap="square" lIns="0" tIns="11516" rIns="0" bIns="0" rtlCol="0" anchor="ctr">
            <a:spAutoFit/>
          </a:bodyPr>
          <a:lstStyle/>
          <a:p>
            <a:r>
              <a:rPr lang="en-US" dirty="0" err="1"/>
              <a:t>USA:</a:t>
            </a:r>
            <a:r>
              <a:rPr lang="en-US" altLang="zh-TW" sz="3600" b="1" dirty="0" err="1">
                <a:solidFill>
                  <a:srgbClr val="002F8C"/>
                </a:solidFill>
                <a:latin typeface="Verdana"/>
                <a:cs typeface="Verdana"/>
              </a:rPr>
              <a:t>Carboline</a:t>
            </a:r>
            <a:r>
              <a:rPr lang="en-US" altLang="zh-TW" sz="3600" b="1" spc="-50" dirty="0">
                <a:solidFill>
                  <a:srgbClr val="002F8C"/>
                </a:solidFill>
                <a:latin typeface="Verdana"/>
                <a:cs typeface="Verdana"/>
              </a:rPr>
              <a:t> </a:t>
            </a:r>
            <a:r>
              <a:rPr lang="en-US" altLang="zh-TW" sz="3600" b="1" spc="-9" dirty="0">
                <a:solidFill>
                  <a:srgbClr val="002F8C"/>
                </a:solidFill>
                <a:latin typeface="Verdana"/>
                <a:cs typeface="Verdana"/>
              </a:rPr>
              <a:t>(RPM)</a:t>
            </a:r>
            <a:endParaRPr lang="en-US" dirty="0"/>
          </a:p>
        </p:txBody>
      </p:sp>
      <p:pic>
        <p:nvPicPr>
          <p:cNvPr id="23" name="object 15">
            <a:extLst>
              <a:ext uri="{FF2B5EF4-FFF2-40B4-BE49-F238E27FC236}">
                <a16:creationId xmlns:a16="http://schemas.microsoft.com/office/drawing/2014/main" id="{CA1D2C95-5214-DCAB-EACA-08E18914E6C0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71488" y="3631454"/>
            <a:ext cx="5915025" cy="3095529"/>
          </a:xfrm>
          <a:prstGeom prst="rect">
            <a:avLst/>
          </a:prstGeom>
        </p:spPr>
      </p:pic>
      <p:pic>
        <p:nvPicPr>
          <p:cNvPr id="29" name="內容版面配置區 28">
            <a:extLst>
              <a:ext uri="{FF2B5EF4-FFF2-40B4-BE49-F238E27FC236}">
                <a16:creationId xmlns:a16="http://schemas.microsoft.com/office/drawing/2014/main" id="{0A78F7B9-3363-FBF3-0BAD-C720339C92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50084" y="7318797"/>
            <a:ext cx="4157832" cy="3456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11427</TotalTime>
  <Words>562</Words>
  <Application>Microsoft Office PowerPoint</Application>
  <PresentationFormat>寬螢幕</PresentationFormat>
  <Paragraphs>118</Paragraphs>
  <Slides>40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Verdana</vt:lpstr>
      <vt:lpstr>Office 佈景主題</vt:lpstr>
      <vt:lpstr>Testing performed on GraphShield 730</vt:lpstr>
      <vt:lpstr>Anticorrosion</vt:lpstr>
      <vt:lpstr>GraphShield 730 Anticorrosion results</vt:lpstr>
      <vt:lpstr>Performance Study</vt:lpstr>
      <vt:lpstr>Control Formulas</vt:lpstr>
      <vt:lpstr>Test Methods Beyond the Visual</vt:lpstr>
      <vt:lpstr>Visually our best replacement for Fluo 750TX</vt:lpstr>
      <vt:lpstr>Gloss Efficiency</vt:lpstr>
      <vt:lpstr>Mechanical Properties </vt:lpstr>
      <vt:lpstr>Inclined Plate – Pellet Flow at 15 min/200°C (indication of edge coverage)</vt:lpstr>
      <vt:lpstr>Conclusion</vt:lpstr>
      <vt:lpstr>France:Axalta</vt:lpstr>
      <vt:lpstr>USA: Spectra Photopolymer</vt:lpstr>
      <vt:lpstr>Performance Study Overview</vt:lpstr>
      <vt:lpstr>Study Overview</vt:lpstr>
      <vt:lpstr>Study Overview</vt:lpstr>
      <vt:lpstr>Coating removed after 2,000 cycles (mg)</vt:lpstr>
      <vt:lpstr>PowerPoint 簡報</vt:lpstr>
      <vt:lpstr>Gloss reduction at4.0% dosage (on TFW)</vt:lpstr>
      <vt:lpstr>Powder Coatings Q-panels</vt:lpstr>
      <vt:lpstr>MP-28AL vs. Polyolefin Wax-PTFE</vt:lpstr>
      <vt:lpstr>PowerPoint 簡報</vt:lpstr>
      <vt:lpstr>案例</vt:lpstr>
      <vt:lpstr>Performance testing – Coefficient of Friction</vt:lpstr>
      <vt:lpstr>COF Result</vt:lpstr>
      <vt:lpstr>Scratch resistance testing</vt:lpstr>
      <vt:lpstr>PowerPoint 簡報</vt:lpstr>
      <vt:lpstr>Türkiye: Axalta</vt:lpstr>
      <vt:lpstr>PowerPoint 簡報</vt:lpstr>
      <vt:lpstr>Dispersibility of Superslip 6515AL-EZ</vt:lpstr>
      <vt:lpstr>USA:</vt:lpstr>
      <vt:lpstr>Performance Study</vt:lpstr>
      <vt:lpstr>Test Methods</vt:lpstr>
      <vt:lpstr>PowerPoint 簡報</vt:lpstr>
      <vt:lpstr>案例</vt:lpstr>
      <vt:lpstr>PowerPoint 簡報</vt:lpstr>
      <vt:lpstr>Conclusions</vt:lpstr>
      <vt:lpstr>Industrial Wood finishes</vt:lpstr>
      <vt:lpstr>GI, Protective &amp; Marine</vt:lpstr>
      <vt:lpstr>USA:Carboline (RPM)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竣傑 楊</dc:creator>
  <cp:lastModifiedBy>竣傑 楊</cp:lastModifiedBy>
  <cp:revision>4</cp:revision>
  <dcterms:created xsi:type="dcterms:W3CDTF">2026-06-23T03:20:53Z</dcterms:created>
  <dcterms:modified xsi:type="dcterms:W3CDTF">2026-07-09T08:32:59Z</dcterms:modified>
</cp:coreProperties>
</file>